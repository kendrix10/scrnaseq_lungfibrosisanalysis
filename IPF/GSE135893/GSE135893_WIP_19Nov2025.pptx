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1" r:id="rId4"/>
    <p:sldId id="262" r:id="rId5"/>
    <p:sldId id="263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 autoAdjust="0"/>
    <p:restoredTop sz="94660"/>
  </p:normalViewPr>
  <p:slideViewPr>
    <p:cSldViewPr snapToGrid="0">
      <p:cViewPr varScale="1">
        <p:scale>
          <a:sx n="55" d="100"/>
          <a:sy n="55" d="100"/>
        </p:scale>
        <p:origin x="5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6BCFF2-8775-461E-AE14-E3E8617DFA77}" type="datetimeFigureOut">
              <a:rPr lang="en-CA" smtClean="0"/>
              <a:t>2025-11-19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609BE-5F0D-4F31-97E8-0D87A448B6B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06585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Square plot</a:t>
            </a:r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8609BE-5F0D-4F31-97E8-0D87A448B6B6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1901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FB69F-9765-A8D2-EAFC-175C616666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09A908-72C4-87B7-8943-75FCDBF02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89391D-AA1C-016A-C226-20B0169FA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B9516-F08F-4403-AFCB-38005107BF9A}" type="datetimeFigureOut">
              <a:rPr lang="en-CA" smtClean="0"/>
              <a:t>2025-11-19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C94D3-9615-D3D6-E939-B0B299781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1BC21-1C78-3453-8CCC-75EF6F966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F128E-608D-43FD-9EF8-134C83E8F0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87997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65A03-F5A4-3E4D-43E7-E9CC344CC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1A6E3-C974-7927-0A26-4B21A15C2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6219D-CA16-6F83-9327-D998E0440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B9516-F08F-4403-AFCB-38005107BF9A}" type="datetimeFigureOut">
              <a:rPr lang="en-CA" smtClean="0"/>
              <a:t>2025-11-19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7DA3B-D03C-CEA7-A9B6-4E8B0495D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28F92-0EEA-C645-7E72-6E62C6BA7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F128E-608D-43FD-9EF8-134C83E8F0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4423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54673-4492-5ED3-6BCF-214C477A9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C4F573-DB7E-CF71-E192-951ABBE56B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5A1D6-0A5B-CAB7-7F4C-61E4FD635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B9516-F08F-4403-AFCB-38005107BF9A}" type="datetimeFigureOut">
              <a:rPr lang="en-CA" smtClean="0"/>
              <a:t>2025-11-19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D48474-B40C-4F79-1147-08B8611EC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F64DC-C820-BEDD-F7C1-06AF2C8C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F128E-608D-43FD-9EF8-134C83E8F0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1210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1315D-C680-08D0-AFA5-73A85AE61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EA6C9-1F45-71F4-AA1A-490DF90B87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331ED0-323C-5974-E46A-67506620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AC0894-BB4E-B2A6-7A48-4F63C9573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B9516-F08F-4403-AFCB-38005107BF9A}" type="datetimeFigureOut">
              <a:rPr lang="en-CA" smtClean="0"/>
              <a:t>2025-11-19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06F1F0-FC80-8AE6-4C9D-E43098DF8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114FB1-6C41-50EF-A0B6-9D3C0ECD9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F128E-608D-43FD-9EF8-134C83E8F0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00904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D65D7-1DCA-EC2B-AB80-513B4CE4A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D945B-2C13-3C2E-E565-9A1D5134E9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13FCAD-EDF6-48C4-D3F9-88149AA839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DC1450-F669-C618-09C9-272709F7DC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EA250C-EC01-3466-341F-A1D17A349B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729CF4-CB9E-6A36-AD0D-3C40A143E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B9516-F08F-4403-AFCB-38005107BF9A}" type="datetimeFigureOut">
              <a:rPr lang="en-CA" smtClean="0"/>
              <a:t>2025-11-19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837A47-356B-0DA4-D888-A77160FE8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612740-4CD6-3F2C-6EC3-1098CB165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F128E-608D-43FD-9EF8-134C83E8F0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58618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11D5F-62AB-A41B-B395-021EB0FFF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636A43-FCDE-7066-FAFB-9A00C2461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B9516-F08F-4403-AFCB-38005107BF9A}" type="datetimeFigureOut">
              <a:rPr lang="en-CA" smtClean="0"/>
              <a:t>2025-11-19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2D8DFB-E053-533C-C2B2-DCBC2A769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08270-FFB0-6908-D992-6B11BBAE0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F128E-608D-43FD-9EF8-134C83E8F0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52458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43FE4D-56AA-66F3-DB64-4614CD83C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B9516-F08F-4403-AFCB-38005107BF9A}" type="datetimeFigureOut">
              <a:rPr lang="en-CA" smtClean="0"/>
              <a:t>2025-11-19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82003C-FBD4-A9E1-4673-59488E21F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72B5D-AE9F-2679-FB5F-CD277CE1D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F128E-608D-43FD-9EF8-134C83E8F0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6447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E880C-97E8-9AC2-23E2-359F6E522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B49F3-007C-D40B-73BE-7501F2279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37C411-7AE0-96EB-B2FE-78F024B094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A734FF-43A9-3C48-2397-02B703337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B9516-F08F-4403-AFCB-38005107BF9A}" type="datetimeFigureOut">
              <a:rPr lang="en-CA" smtClean="0"/>
              <a:t>2025-11-19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A2FC09-B5FF-06A1-9056-7B7A3B163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44ACCC-78DF-8A54-E871-5AC59E2D5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F128E-608D-43FD-9EF8-134C83E8F0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86943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5592A-C216-8002-75E4-AE5F589C5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4E13E1-171F-36C4-0F08-E100E7080A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51CB5D-3E4C-5318-4688-C58C3BF2D9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86C3E4-2424-D57F-A42D-C9722826E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B9516-F08F-4403-AFCB-38005107BF9A}" type="datetimeFigureOut">
              <a:rPr lang="en-CA" smtClean="0"/>
              <a:t>2025-11-19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152881-92F0-D4B8-B1C2-9C0D843FE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D6D020-A407-AFED-6A98-75020D4B8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F128E-608D-43FD-9EF8-134C83E8F0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8979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01AF9-2F07-1DFD-E1C9-426B48E02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DEAF15-A071-2740-B7EC-6519958082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26416-240B-7C54-302C-85419D54E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B9516-F08F-4403-AFCB-38005107BF9A}" type="datetimeFigureOut">
              <a:rPr lang="en-CA" smtClean="0"/>
              <a:t>2025-11-19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8734D-AEFF-6993-F602-6936CC334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4178C-B74D-3F99-1455-B7DB2DA02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F128E-608D-43FD-9EF8-134C83E8F0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8642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97AFC3-BEC6-2689-140B-7463E9AA59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5D09E0-D39D-AB05-4F83-08C392FBCC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20F92-BE47-8A88-735A-664FCDD45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B9516-F08F-4403-AFCB-38005107BF9A}" type="datetimeFigureOut">
              <a:rPr lang="en-CA" smtClean="0"/>
              <a:t>2025-11-19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6D309-1099-DC98-A513-2335930F6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1897C-3061-00AE-96CE-6F078C9C6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F128E-608D-43FD-9EF8-134C83E8F0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98957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788399-503D-E306-F17F-6538CD290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66229-9351-C822-91CC-DBD950F6B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5BA1D-1F94-34BE-02FF-C4C6717BA4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9B9516-F08F-4403-AFCB-38005107BF9A}" type="datetimeFigureOut">
              <a:rPr lang="en-CA" smtClean="0"/>
              <a:t>2025-11-19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1A159A-FEFD-F9B7-378B-DD5442CB45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EB809-FCC7-F2AA-7949-58D157167C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9F128E-608D-43FD-9EF8-134C83E8F01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8673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91722-75AB-032E-4AA9-CDF0C247B12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WIP: ANTXR1 in IPF Lung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BCE4C0-4051-E024-0CB1-4324D6BE7E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17-Nov-2025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4163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7B707-BBA1-3BC7-31B1-3C02FBD5D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6851"/>
          </a:xfrm>
        </p:spPr>
        <p:txBody>
          <a:bodyPr>
            <a:normAutofit fontScale="90000"/>
          </a:bodyPr>
          <a:lstStyle/>
          <a:p>
            <a:r>
              <a:rPr lang="en-US" dirty="0"/>
              <a:t>Demographics – Sample Level</a:t>
            </a:r>
            <a:endParaRPr lang="en-CA" dirty="0"/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4BA94A0D-0C18-E801-1838-4EB2A6E2D9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237" y="1021976"/>
            <a:ext cx="11263525" cy="5836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488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34CA5-B83A-8A29-4613-A10F9BFCB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B207D-CB50-A792-7A09-59B746A5D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6851"/>
          </a:xfrm>
        </p:spPr>
        <p:txBody>
          <a:bodyPr>
            <a:normAutofit fontScale="90000"/>
          </a:bodyPr>
          <a:lstStyle/>
          <a:p>
            <a:r>
              <a:rPr lang="en-US" dirty="0"/>
              <a:t>Cell Count by Cell Type</a:t>
            </a:r>
            <a:endParaRPr lang="en-CA" dirty="0"/>
          </a:p>
        </p:txBody>
      </p:sp>
      <p:pic>
        <p:nvPicPr>
          <p:cNvPr id="5" name="Picture 4" descr="A graph with text and numbers&#10;&#10;AI-generated content may be incorrect.">
            <a:extLst>
              <a:ext uri="{FF2B5EF4-FFF2-40B4-BE49-F238E27FC236}">
                <a16:creationId xmlns:a16="http://schemas.microsoft.com/office/drawing/2014/main" id="{8FD2625A-0BD0-5311-AC1B-166C98701F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356" y="1021976"/>
            <a:ext cx="11287288" cy="5614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360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09187-DC6A-4A98-31CE-4C7AA41BD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FCF55-8FDD-42E5-82D9-C984E98F2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6851"/>
          </a:xfrm>
        </p:spPr>
        <p:txBody>
          <a:bodyPr>
            <a:normAutofit fontScale="90000"/>
          </a:bodyPr>
          <a:lstStyle/>
          <a:p>
            <a:r>
              <a:rPr lang="en-US" dirty="0"/>
              <a:t>ANTXR1 Expression </a:t>
            </a:r>
            <a:endParaRPr lang="en-CA" dirty="0"/>
          </a:p>
        </p:txBody>
      </p:sp>
      <p:pic>
        <p:nvPicPr>
          <p:cNvPr id="5" name="Picture 4" descr="A comparison of a map&#10;&#10;AI-generated content may be incorrect.">
            <a:extLst>
              <a:ext uri="{FF2B5EF4-FFF2-40B4-BE49-F238E27FC236}">
                <a16:creationId xmlns:a16="http://schemas.microsoft.com/office/drawing/2014/main" id="{B03169F6-8899-963B-9F8C-91C80D8AE4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18443"/>
            <a:ext cx="7509164" cy="4986348"/>
          </a:xfrm>
          <a:prstGeom prst="rect">
            <a:avLst/>
          </a:prstGeom>
        </p:spPr>
      </p:pic>
      <p:pic>
        <p:nvPicPr>
          <p:cNvPr id="7" name="Picture 6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11122269-E6DD-5C22-75CC-364AFE1245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436" y="0"/>
            <a:ext cx="5375564" cy="2676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830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1EF98-47F3-8A9B-B53C-0B085B1AA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F4CD1-D8C7-8B19-073F-88DA21192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6851"/>
          </a:xfrm>
        </p:spPr>
        <p:txBody>
          <a:bodyPr>
            <a:normAutofit fontScale="90000"/>
          </a:bodyPr>
          <a:lstStyle/>
          <a:p>
            <a:r>
              <a:rPr lang="en-US"/>
              <a:t>ANTXR1 Expression </a:t>
            </a:r>
            <a:endParaRPr lang="en-CA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3BCBF43-C04A-0AFA-7A53-BC4D925D22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692286"/>
              </p:ext>
            </p:extLst>
          </p:nvPr>
        </p:nvGraphicFramePr>
        <p:xfrm>
          <a:off x="6673706" y="142370"/>
          <a:ext cx="5188353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6930">
                  <a:extLst>
                    <a:ext uri="{9D8B030D-6E8A-4147-A177-3AD203B41FA5}">
                      <a16:colId xmlns:a16="http://schemas.microsoft.com/office/drawing/2014/main" val="254481330"/>
                    </a:ext>
                  </a:extLst>
                </a:gridCol>
                <a:gridCol w="1096972">
                  <a:extLst>
                    <a:ext uri="{9D8B030D-6E8A-4147-A177-3AD203B41FA5}">
                      <a16:colId xmlns:a16="http://schemas.microsoft.com/office/drawing/2014/main" val="3014727629"/>
                    </a:ext>
                  </a:extLst>
                </a:gridCol>
                <a:gridCol w="1084817">
                  <a:extLst>
                    <a:ext uri="{9D8B030D-6E8A-4147-A177-3AD203B41FA5}">
                      <a16:colId xmlns:a16="http://schemas.microsoft.com/office/drawing/2014/main" val="2203186373"/>
                    </a:ext>
                  </a:extLst>
                </a:gridCol>
                <a:gridCol w="1084817">
                  <a:extLst>
                    <a:ext uri="{9D8B030D-6E8A-4147-A177-3AD203B41FA5}">
                      <a16:colId xmlns:a16="http://schemas.microsoft.com/office/drawing/2014/main" val="3967021586"/>
                    </a:ext>
                  </a:extLst>
                </a:gridCol>
                <a:gridCol w="1084817">
                  <a:extLst>
                    <a:ext uri="{9D8B030D-6E8A-4147-A177-3AD203B41FA5}">
                      <a16:colId xmlns:a16="http://schemas.microsoft.com/office/drawing/2014/main" val="10311958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Gene</a:t>
                      </a:r>
                      <a:endParaRPr lang="en-CA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Median Expression (Control)</a:t>
                      </a:r>
                      <a:endParaRPr lang="en-CA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Median Expression (IPF)</a:t>
                      </a:r>
                      <a:endParaRPr lang="en-CA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Mean Expression (Control)</a:t>
                      </a:r>
                      <a:endParaRPr lang="en-CA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Mean Expression (IPF)</a:t>
                      </a:r>
                      <a:endParaRPr lang="en-CA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640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ANTXR1</a:t>
                      </a:r>
                      <a:endParaRPr lang="en-CA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CA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dirty="0">
                          <a:solidFill>
                            <a:schemeClr val="tx1"/>
                          </a:solidFill>
                        </a:rPr>
                        <a:t>0.693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dirty="0">
                          <a:solidFill>
                            <a:schemeClr val="tx1"/>
                          </a:solidFill>
                        </a:rPr>
                        <a:t>0.356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400" dirty="0">
                          <a:solidFill>
                            <a:schemeClr val="tx1"/>
                          </a:solidFill>
                        </a:rPr>
                        <a:t>0.526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9904028"/>
                  </a:ext>
                </a:extLst>
              </a:tr>
            </a:tbl>
          </a:graphicData>
        </a:graphic>
      </p:graphicFrame>
      <p:pic>
        <p:nvPicPr>
          <p:cNvPr id="4" name="Picture 3" descr="A diagram of a graph&#10;&#10;AI-generated content may be incorrect.">
            <a:extLst>
              <a:ext uri="{FF2B5EF4-FFF2-40B4-BE49-F238E27FC236}">
                <a16:creationId xmlns:a16="http://schemas.microsoft.com/office/drawing/2014/main" id="{768F80BC-001A-7F93-CD15-2BD49F6D14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643" y="1467485"/>
            <a:ext cx="9071898" cy="5248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276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C9923-FF09-1486-7A2A-44A2E1D31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with green and red dots&#10;&#10;AI-generated content may be incorrect.">
            <a:extLst>
              <a:ext uri="{FF2B5EF4-FFF2-40B4-BE49-F238E27FC236}">
                <a16:creationId xmlns:a16="http://schemas.microsoft.com/office/drawing/2014/main" id="{115B8D2F-B367-16D9-0D2B-36E6FD1117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657" y="1021977"/>
            <a:ext cx="8827665" cy="58360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CB0AD77-FE3D-0559-EFF6-C93484B22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6851"/>
          </a:xfrm>
        </p:spPr>
        <p:txBody>
          <a:bodyPr>
            <a:normAutofit fontScale="90000"/>
          </a:bodyPr>
          <a:lstStyle/>
          <a:p>
            <a:r>
              <a:rPr lang="en-US" dirty="0"/>
              <a:t>Differential Expression – Fibroblast Control vs. IPF</a:t>
            </a:r>
            <a:endParaRPr lang="en-CA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83F0458-AEA7-39A1-A054-D4F98B725A0F}"/>
              </a:ext>
            </a:extLst>
          </p:cNvPr>
          <p:cNvSpPr/>
          <p:nvPr/>
        </p:nvSpPr>
        <p:spPr>
          <a:xfrm>
            <a:off x="3781467" y="5047962"/>
            <a:ext cx="835022" cy="43340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CE35DF5-9B2F-9485-2472-282ED59CE9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264622"/>
              </p:ext>
            </p:extLst>
          </p:nvPr>
        </p:nvGraphicFramePr>
        <p:xfrm>
          <a:off x="5390817" y="1021976"/>
          <a:ext cx="6156946" cy="88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498">
                  <a:extLst>
                    <a:ext uri="{9D8B030D-6E8A-4147-A177-3AD203B41FA5}">
                      <a16:colId xmlns:a16="http://schemas.microsoft.com/office/drawing/2014/main" val="254481330"/>
                    </a:ext>
                  </a:extLst>
                </a:gridCol>
                <a:gridCol w="1303016">
                  <a:extLst>
                    <a:ext uri="{9D8B030D-6E8A-4147-A177-3AD203B41FA5}">
                      <a16:colId xmlns:a16="http://schemas.microsoft.com/office/drawing/2014/main" val="3014727629"/>
                    </a:ext>
                  </a:extLst>
                </a:gridCol>
                <a:gridCol w="1318526">
                  <a:extLst>
                    <a:ext uri="{9D8B030D-6E8A-4147-A177-3AD203B41FA5}">
                      <a16:colId xmlns:a16="http://schemas.microsoft.com/office/drawing/2014/main" val="2203186373"/>
                    </a:ext>
                  </a:extLst>
                </a:gridCol>
                <a:gridCol w="1458481">
                  <a:extLst>
                    <a:ext uri="{9D8B030D-6E8A-4147-A177-3AD203B41FA5}">
                      <a16:colId xmlns:a16="http://schemas.microsoft.com/office/drawing/2014/main" val="1049011878"/>
                    </a:ext>
                  </a:extLst>
                </a:gridCol>
                <a:gridCol w="1177425">
                  <a:extLst>
                    <a:ext uri="{9D8B030D-6E8A-4147-A177-3AD203B41FA5}">
                      <a16:colId xmlns:a16="http://schemas.microsoft.com/office/drawing/2014/main" val="41500828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Gene</a:t>
                      </a:r>
                      <a:endParaRPr lang="en-CA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Ident 1</a:t>
                      </a:r>
                      <a:endParaRPr lang="en-CA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Ident 2</a:t>
                      </a:r>
                      <a:endParaRPr lang="en-CA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avg_log2FC</a:t>
                      </a:r>
                      <a:endParaRPr lang="en-CA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p-</a:t>
                      </a:r>
                      <a:r>
                        <a:rPr lang="en-US" sz="1400" dirty="0" err="1">
                          <a:solidFill>
                            <a:sysClr val="windowText" lastClr="000000"/>
                          </a:solidFill>
                        </a:rPr>
                        <a:t>val_adj</a:t>
                      </a:r>
                      <a:endParaRPr lang="en-CA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640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ANTXR1</a:t>
                      </a:r>
                      <a:endParaRPr lang="en-CA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IPF Fibroblasts</a:t>
                      </a:r>
                      <a:endParaRPr lang="en-CA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Control Fibroblasts</a:t>
                      </a:r>
                      <a:endParaRPr lang="en-CA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1.155</a:t>
                      </a:r>
                      <a:endParaRPr lang="en-CA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1.00</a:t>
                      </a:r>
                      <a:endParaRPr lang="en-CA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99040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7759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75</Words>
  <Application>Microsoft Office PowerPoint</Application>
  <PresentationFormat>Widescreen</PresentationFormat>
  <Paragraphs>29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WIP: ANTXR1 in IPF Lung</vt:lpstr>
      <vt:lpstr>Demographics – Sample Level</vt:lpstr>
      <vt:lpstr>Cell Count by Cell Type</vt:lpstr>
      <vt:lpstr>ANTXR1 Expression </vt:lpstr>
      <vt:lpstr>ANTXR1 Expression </vt:lpstr>
      <vt:lpstr>Differential Expression – Fibroblast Control vs. IPF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TUPIL SMH</dc:creator>
  <cp:lastModifiedBy>TUPIL SMH</cp:lastModifiedBy>
  <cp:revision>14</cp:revision>
  <dcterms:created xsi:type="dcterms:W3CDTF">2025-11-17T17:59:01Z</dcterms:created>
  <dcterms:modified xsi:type="dcterms:W3CDTF">2025-11-19T23:48:59Z</dcterms:modified>
</cp:coreProperties>
</file>